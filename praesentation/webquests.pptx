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</p:sldIdLst>
  <p:sldSz cx="12192000" cy="6858000"/>
  <p:notesSz cx="6858000" cy="9144000"/>
  <p:embeddedFontLst>
    <p:embeddedFont>
      <p:font typeface="DM Sans" pitchFamily="2" charset="77"/>
      <p:regular r:id="rId17"/>
      <p:bold r:id="rId18"/>
      <p:italic r:id="rId19"/>
      <p:boldItalic r:id="rId20"/>
    </p:embeddedFont>
    <p:embeddedFont>
      <p:font typeface="Merriweather" pitchFamily="2" charset="77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93D019-C90C-4423-AB4E-9673552B0176}" v="532" dt="2026-05-08T15:30:42.7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43"/>
  </p:normalViewPr>
  <p:slideViewPr>
    <p:cSldViewPr snapToGrid="0">
      <p:cViewPr varScale="1">
        <p:scale>
          <a:sx n="97" d="100"/>
          <a:sy n="97" d="100"/>
        </p:scale>
        <p:origin x="208" y="4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18D8AFC9-DD3A-3000-5548-5F8E23D43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>
            <a:extLst>
              <a:ext uri="{FF2B5EF4-FFF2-40B4-BE49-F238E27FC236}">
                <a16:creationId xmlns:a16="http://schemas.microsoft.com/office/drawing/2014/main" id="{2E4D692E-B29E-2D69-FE3F-99DA430FD3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1:notes">
            <a:extLst>
              <a:ext uri="{FF2B5EF4-FFF2-40B4-BE49-F238E27FC236}">
                <a16:creationId xmlns:a16="http://schemas.microsoft.com/office/drawing/2014/main" id="{96E01115-A2E0-048E-1097-43A6281190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81779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f9b3d71e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3df9b3d71e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webquest.de/" TargetMode="External"/><Relationship Id="rId5" Type="http://schemas.openxmlformats.org/officeDocument/2006/relationships/hyperlink" Target="http://webquest.de/" TargetMode="External"/><Relationship Id="rId4" Type="http://schemas.openxmlformats.org/officeDocument/2006/relationships/hyperlink" Target="https://lehrerfortbildung-bw.de/u_gestaltlehrlern/projekte/webquest/definition.html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hyperlink" Target="https://iplantes.com/wp-content/uploads/2013/02/webquest1.jpg" TargetMode="Externa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196649"/>
            <a:ext cx="1160145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WebQuests </a:t>
            </a:r>
            <a:endParaRPr lang="en-US" sz="8000" b="1">
              <a:solidFill>
                <a:srgbClr val="002D62"/>
              </a:solidFill>
              <a:latin typeface="Merriweather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60127" y="3338796"/>
            <a:ext cx="110490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4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Theoretischer Hintergrund und methodische Umsetzung</a:t>
            </a:r>
            <a:endParaRPr lang="de-DE" sz="2400"/>
          </a:p>
        </p:txBody>
      </p:sp>
      <p:sp>
        <p:nvSpPr>
          <p:cNvPr id="88" name="Google Shape;88;p13"/>
          <p:cNvSpPr/>
          <p:nvPr/>
        </p:nvSpPr>
        <p:spPr>
          <a:xfrm>
            <a:off x="5608377" y="3931163"/>
            <a:ext cx="9525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65813" y="4148390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i="1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Maximilian Lang 2976585 | Dozent*in: Sabine Kehr</a:t>
            </a:r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5659556" y="2969469"/>
            <a:ext cx="9525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305707" y="3117945"/>
            <a:ext cx="958627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60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Was ist </a:t>
            </a:r>
            <a:r>
              <a:rPr lang="de-DE" sz="6000" b="1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eine</a:t>
            </a:r>
            <a:r>
              <a:rPr lang="de-DE" sz="60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 WebQuest?</a:t>
            </a:r>
            <a:endParaRPr lang="de-DE" sz="6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78992"/>
            <a:ext cx="5334000" cy="38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78992"/>
            <a:ext cx="5334000" cy="383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895350" y="2731442"/>
            <a:ext cx="4960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Das </a:t>
            </a:r>
            <a:r>
              <a:rPr lang="en-US" sz="2100" b="1" i="0" u="none" strike="noStrike" cap="none" dirty="0" err="1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Konzept</a:t>
            </a:r>
            <a:r>
              <a:rPr lang="en-US" sz="21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 (Dodge &amp; March)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895350" y="3264842"/>
            <a:ext cx="472440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Entwickelt </a:t>
            </a:r>
            <a:r>
              <a:rPr lang="de-DE" sz="15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DM Sans"/>
                <a:ea typeface="DM Sans"/>
                <a:cs typeface="DM Sans"/>
                <a:sym typeface="DM Sans"/>
              </a:rPr>
              <a:t>1995</a:t>
            </a: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von Bernie Dodge und Tom March. </a:t>
            </a:r>
            <a:r>
              <a:rPr lang="de-DE" sz="1500" b="0" i="0" u="none" strike="noStrike" cap="none" dirty="0" err="1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WebQuests</a:t>
            </a: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sind </a:t>
            </a:r>
            <a:r>
              <a:rPr lang="de-DE" sz="1500" b="1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orientierungssuchende Aktivitäten</a:t>
            </a: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, bei denen die Informationen, mit denen die Lernenden arbeiten, primär aus dem Internet stammen.</a:t>
            </a:r>
            <a:r>
              <a:rPr lang="de-DE" sz="1500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Es handelt sich um ein strukturiertes </a:t>
            </a:r>
          </a:p>
          <a:p>
            <a:pPr>
              <a:lnSpc>
                <a:spcPct val="160000"/>
              </a:lnSpc>
            </a:pPr>
            <a:r>
              <a:rPr lang="de-DE" sz="1500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Lehr-/Lernarrangement.</a:t>
            </a:r>
            <a:endParaRPr lang="de-DE" sz="1500" dirty="0">
              <a:solidFill>
                <a:srgbClr val="2C3E50"/>
              </a:solidFill>
              <a:latin typeface="DM Sans"/>
              <a:ea typeface="DM Sans"/>
              <a:cs typeface="DM Sans"/>
            </a:endParaRPr>
          </a:p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sz="1500" dirty="0">
              <a:solidFill>
                <a:srgbClr val="2C3E50"/>
              </a:solidFill>
              <a:latin typeface="DM Sans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6610350" y="2731442"/>
            <a:ext cx="4960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Die "</a:t>
            </a:r>
            <a:r>
              <a:rPr lang="en-US" sz="2100" b="1" i="0" u="none" strike="noStrike" cap="none" dirty="0" err="1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Spurensuche</a:t>
            </a:r>
            <a:r>
              <a:rPr lang="en-US" sz="21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"</a:t>
            </a:r>
            <a:endParaRPr dirty="0"/>
          </a:p>
        </p:txBody>
      </p:sp>
      <p:sp>
        <p:nvSpPr>
          <p:cNvPr id="111" name="Google Shape;111;p15"/>
          <p:cNvSpPr txBox="1"/>
          <p:nvPr/>
        </p:nvSpPr>
        <p:spPr>
          <a:xfrm>
            <a:off x="6610350" y="3264842"/>
            <a:ext cx="47244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Oft als </a:t>
            </a:r>
            <a:r>
              <a:rPr lang="de-DE" sz="1500" b="1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"abenteuerliche Spurensuche"</a:t>
            </a: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oder </a:t>
            </a:r>
            <a:r>
              <a:rPr lang="de-DE" sz="1500" b="1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"digitale Schnitzeljagd"</a:t>
            </a: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beschrieben. Der Fokus liegt jedoch nicht auf dem bloßen Suchen von Fakten, sondern auf der </a:t>
            </a:r>
            <a:r>
              <a:rPr lang="de-DE" sz="1500" b="1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Anwendung und Transformation</a:t>
            </a: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von Informationen.</a:t>
            </a:r>
            <a:endParaRPr lang="de-DE"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967085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Definition &amp; Ursprung</a:t>
            </a:r>
            <a:endParaRPr lang="de-DE" sz="3600"/>
          </a:p>
        </p:txBody>
      </p:sp>
      <p:sp>
        <p:nvSpPr>
          <p:cNvPr id="113" name="Google Shape;113;p15"/>
          <p:cNvSpPr/>
          <p:nvPr/>
        </p:nvSpPr>
        <p:spPr>
          <a:xfrm>
            <a:off x="571500" y="1510010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/>
      <p:bldP spid="108" grpId="0"/>
      <p:bldP spid="110" grpId="0"/>
      <p:bldP spid="1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1867"/>
            <a:ext cx="3492549" cy="355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21867"/>
            <a:ext cx="3492549" cy="355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21867"/>
            <a:ext cx="3492549" cy="35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794225" y="3379142"/>
            <a:ext cx="304709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1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Einführung</a:t>
            </a:r>
            <a:endParaRPr lang="de-DE"/>
          </a:p>
        </p:txBody>
      </p:sp>
      <p:sp>
        <p:nvSpPr>
          <p:cNvPr id="124" name="Google Shape;124;p16"/>
          <p:cNvSpPr txBox="1"/>
          <p:nvPr/>
        </p:nvSpPr>
        <p:spPr>
          <a:xfrm>
            <a:off x="866775" y="3912542"/>
            <a:ext cx="2901999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Schafft eine </a:t>
            </a:r>
            <a:r>
              <a:rPr lang="de-DE" sz="1500" b="1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authentische Situation</a:t>
            </a: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und motiviert die Lernenden durch ein realitätsnahes Problem oder Szenario.</a:t>
            </a:r>
            <a:endParaRPr lang="de-DE" dirty="0"/>
          </a:p>
        </p:txBody>
      </p:sp>
      <p:sp>
        <p:nvSpPr>
          <p:cNvPr id="125" name="Google Shape;125;p16"/>
          <p:cNvSpPr txBox="1"/>
          <p:nvPr/>
        </p:nvSpPr>
        <p:spPr>
          <a:xfrm>
            <a:off x="4572524" y="3379142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Aufgabe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45074" y="3912542"/>
            <a:ext cx="290199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Beschreibung des Endprodukts. Fokus auf </a:t>
            </a:r>
            <a:r>
              <a:rPr lang="de-DE" sz="1500" b="1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höhere kognitive Prozesse</a:t>
            </a: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(Analyse, Synthese, Evaluation).</a:t>
            </a:r>
            <a:endParaRPr lang="de-DE" dirty="0"/>
          </a:p>
        </p:txBody>
      </p:sp>
      <p:sp>
        <p:nvSpPr>
          <p:cNvPr id="127" name="Google Shape;127;p16"/>
          <p:cNvSpPr txBox="1"/>
          <p:nvPr/>
        </p:nvSpPr>
        <p:spPr>
          <a:xfrm>
            <a:off x="8350824" y="3379142"/>
            <a:ext cx="304709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1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Prozess</a:t>
            </a:r>
            <a:endParaRPr lang="de-DE"/>
          </a:p>
        </p:txBody>
      </p:sp>
      <p:sp>
        <p:nvSpPr>
          <p:cNvPr id="128" name="Google Shape;128;p16"/>
          <p:cNvSpPr txBox="1"/>
          <p:nvPr/>
        </p:nvSpPr>
        <p:spPr>
          <a:xfrm>
            <a:off x="8423374" y="3912542"/>
            <a:ext cx="290199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Schritt-für-Schritt-Anleitung. Strukturierung der Arbeitsschritte und Zuweisung von Rollen in der Gruppe.</a:t>
            </a:r>
            <a:endParaRPr lang="de-DE" dirty="0"/>
          </a:p>
        </p:txBody>
      </p:sp>
      <p:pic>
        <p:nvPicPr>
          <p:cNvPr id="129" name="Google Shape;129;p16" descr="Adressbuch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127199" y="2664767"/>
            <a:ext cx="423333" cy="5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Klemmbrett abgehakt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820834" y="2664767"/>
            <a:ext cx="465666" cy="518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Zahnräder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9599133" y="2664767"/>
            <a:ext cx="550333" cy="59266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967085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Die 6 </a:t>
            </a:r>
            <a:r>
              <a:rPr lang="de-DE" sz="3600" b="1" i="0" u="none" strike="noStrike" cap="none" noProof="1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Säulen</a:t>
            </a:r>
            <a:r>
              <a:rPr lang="en-US" sz="36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600" b="1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der</a:t>
            </a:r>
            <a:r>
              <a:rPr lang="en-US" sz="36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 WebQuests (I)</a:t>
            </a:r>
            <a:endParaRPr lang="de-DE" sz="3600" dirty="0"/>
          </a:p>
        </p:txBody>
      </p:sp>
      <p:sp>
        <p:nvSpPr>
          <p:cNvPr id="133" name="Google Shape;133;p16"/>
          <p:cNvSpPr/>
          <p:nvPr/>
        </p:nvSpPr>
        <p:spPr>
          <a:xfrm>
            <a:off x="571500" y="1510010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/>
      <p:bldP spid="124" grpId="0"/>
      <p:bldP spid="125" grpId="0"/>
      <p:bldP spid="126" grpId="0"/>
      <p:bldP spid="127" grpId="0"/>
      <p:bldP spid="1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74267"/>
            <a:ext cx="3492549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74267"/>
            <a:ext cx="3492549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74267"/>
            <a:ext cx="3492549" cy="32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794225" y="3531542"/>
            <a:ext cx="304709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1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Ressourcen</a:t>
            </a:r>
            <a:endParaRPr lang="de-DE"/>
          </a:p>
        </p:txBody>
      </p:sp>
      <p:sp>
        <p:nvSpPr>
          <p:cNvPr id="144" name="Google Shape;144;p17"/>
          <p:cNvSpPr txBox="1"/>
          <p:nvPr/>
        </p:nvSpPr>
        <p:spPr>
          <a:xfrm>
            <a:off x="866775" y="4064942"/>
            <a:ext cx="29019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Vorausgewählte Internetquellen zur Vermeidung von 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b="1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"Lost in Cyberspace"</a:t>
            </a: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endParaRPr lang="de-DE" sz="1500" dirty="0">
              <a:solidFill>
                <a:srgbClr val="2C3E50"/>
              </a:solidFill>
              <a:latin typeface="DM Sans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4572524" y="3531542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Evaluation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4645074" y="4064942"/>
            <a:ext cx="290199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Transparente Bewertungskriterien (z.B. </a:t>
            </a:r>
            <a:r>
              <a:rPr lang="de-DE" sz="1500" b="0" i="0" u="none" strike="noStrike" cap="none" dirty="0" err="1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Rubrics</a:t>
            </a: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), die den Schülern vorab zeigen, worauf es ankommt.</a:t>
            </a:r>
            <a:endParaRPr lang="de-DE" dirty="0"/>
          </a:p>
        </p:txBody>
      </p:sp>
      <p:sp>
        <p:nvSpPr>
          <p:cNvPr id="147" name="Google Shape;147;p17"/>
          <p:cNvSpPr txBox="1"/>
          <p:nvPr/>
        </p:nvSpPr>
        <p:spPr>
          <a:xfrm>
            <a:off x="8350824" y="3531542"/>
            <a:ext cx="304709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1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Abschluss</a:t>
            </a:r>
            <a:endParaRPr lang="de-DE"/>
          </a:p>
        </p:txBody>
      </p:sp>
      <p:sp>
        <p:nvSpPr>
          <p:cNvPr id="148" name="Google Shape;148;p17"/>
          <p:cNvSpPr txBox="1"/>
          <p:nvPr/>
        </p:nvSpPr>
        <p:spPr>
          <a:xfrm>
            <a:off x="8423374" y="4064942"/>
            <a:ext cx="290199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Zusammenfassung der Erkenntnisse und Ausblick. Reflexion über den Lernprozess und die Ergebnisse.</a:t>
            </a:r>
            <a:endParaRPr lang="de-DE" dirty="0"/>
          </a:p>
        </p:txBody>
      </p:sp>
      <p:pic>
        <p:nvPicPr>
          <p:cNvPr id="149" name="Google Shape;149;p17" descr="Inventar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047825" y="2944167"/>
            <a:ext cx="539750" cy="508001"/>
          </a:xfrm>
          <a:prstGeom prst="rect">
            <a:avLst/>
          </a:prstGeom>
        </p:spPr>
      </p:pic>
      <p:pic>
        <p:nvPicPr>
          <p:cNvPr id="150" name="Google Shape;150;p17" descr="Lupe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868458" y="2954750"/>
            <a:ext cx="497416" cy="486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Rennflagge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9633529" y="2915062"/>
            <a:ext cx="481541" cy="51329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571500" y="967085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Die 6 </a:t>
            </a:r>
            <a:r>
              <a:rPr lang="en-US" sz="3600" b="1" i="0" u="none" strike="noStrike" cap="none" dirty="0" err="1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Säulen</a:t>
            </a:r>
            <a:r>
              <a:rPr lang="en-US" sz="36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600" b="1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der</a:t>
            </a:r>
            <a:r>
              <a:rPr lang="en-US" sz="36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 WebQuests (II)</a:t>
            </a:r>
            <a:endParaRPr lang="de-DE" sz="3600"/>
          </a:p>
        </p:txBody>
      </p:sp>
      <p:sp>
        <p:nvSpPr>
          <p:cNvPr id="153" name="Google Shape;153;p17"/>
          <p:cNvSpPr/>
          <p:nvPr/>
        </p:nvSpPr>
        <p:spPr>
          <a:xfrm>
            <a:off x="571500" y="1510010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/>
      <p:bldP spid="144" grpId="0"/>
      <p:bldP spid="145" grpId="0"/>
      <p:bldP spid="146" grpId="0"/>
      <p:bldP spid="147" grpId="0"/>
      <p:bldP spid="14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5619750" y="2497484"/>
            <a:ext cx="9525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1040364" y="2964407"/>
            <a:ext cx="1011127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60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Theoretische Fundierung</a:t>
            </a:r>
            <a:endParaRPr lang="de-DE" sz="6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690373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9328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/>
          <p:nvPr/>
        </p:nvSpPr>
        <p:spPr>
          <a:xfrm>
            <a:off x="-10510" y="0"/>
            <a:ext cx="12192000" cy="9525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19328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6276061" y="3022524"/>
            <a:ext cx="540067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1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Lernen als aktiver Prozess</a:t>
            </a:r>
            <a:endParaRPr lang="de-DE" dirty="0"/>
          </a:p>
        </p:txBody>
      </p:sp>
      <p:sp>
        <p:nvSpPr>
          <p:cNvPr id="172" name="Google Shape;172;p19"/>
          <p:cNvSpPr txBox="1"/>
          <p:nvPr/>
        </p:nvSpPr>
        <p:spPr>
          <a:xfrm>
            <a:off x="6276061" y="3363078"/>
            <a:ext cx="51435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Wissen wird nicht passiv empfangen, sondern </a:t>
            </a:r>
            <a:r>
              <a:rPr lang="de-DE" sz="1800" b="1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individuell konstruiert</a:t>
            </a:r>
            <a:r>
              <a:rPr lang="de-DE" sz="18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lang="de-DE" sz="1800" b="0" i="0" u="none" strike="noStrike" cap="none" dirty="0" err="1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WebQuests</a:t>
            </a:r>
            <a:r>
              <a:rPr lang="de-DE" sz="18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fördern:</a:t>
            </a:r>
            <a:endParaRPr lang="de-DE" sz="1800" dirty="0"/>
          </a:p>
        </p:txBody>
      </p:sp>
      <p:sp>
        <p:nvSpPr>
          <p:cNvPr id="173" name="Google Shape;173;p19"/>
          <p:cNvSpPr txBox="1"/>
          <p:nvPr/>
        </p:nvSpPr>
        <p:spPr>
          <a:xfrm>
            <a:off x="6858000" y="4402710"/>
            <a:ext cx="47625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Selbstgesteuertes Lernen</a:t>
            </a:r>
            <a:endParaRPr lang="de-DE" sz="1800" dirty="0"/>
          </a:p>
        </p:txBody>
      </p:sp>
      <p:sp>
        <p:nvSpPr>
          <p:cNvPr id="174" name="Google Shape;174;p19"/>
          <p:cNvSpPr txBox="1"/>
          <p:nvPr/>
        </p:nvSpPr>
        <p:spPr>
          <a:xfrm>
            <a:off x="6858000" y="4898010"/>
            <a:ext cx="47625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Soziale Interaktion (Kooperation)</a:t>
            </a:r>
            <a:endParaRPr lang="de-DE" sz="1800"/>
          </a:p>
        </p:txBody>
      </p:sp>
      <p:sp>
        <p:nvSpPr>
          <p:cNvPr id="175" name="Google Shape;175;p19"/>
          <p:cNvSpPr txBox="1"/>
          <p:nvPr/>
        </p:nvSpPr>
        <p:spPr>
          <a:xfrm>
            <a:off x="6858000" y="5393310"/>
            <a:ext cx="47625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Problemlöseorientierung</a:t>
            </a:r>
            <a:endParaRPr lang="de-DE" sz="1800"/>
          </a:p>
        </p:txBody>
      </p:sp>
      <p:pic>
        <p:nvPicPr>
          <p:cNvPr id="176" name="Google Shape;176;p19" descr="Puzzleteile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288761" y="4471713"/>
            <a:ext cx="345016" cy="33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Sitzungssaal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276061" y="4968071"/>
            <a:ext cx="364066" cy="337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Kopf mit Zahnrädern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283469" y="5462313"/>
            <a:ext cx="334433" cy="350308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571500" y="967085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6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Der Konstruktivismus als Basis</a:t>
            </a:r>
            <a:endParaRPr lang="de-DE" sz="3600" dirty="0"/>
          </a:p>
        </p:txBody>
      </p:sp>
      <p:sp>
        <p:nvSpPr>
          <p:cNvPr id="180" name="Google Shape;180;p19"/>
          <p:cNvSpPr/>
          <p:nvPr/>
        </p:nvSpPr>
        <p:spPr>
          <a:xfrm>
            <a:off x="571500" y="1510010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0678FFC-63C8-4516-978D-DC1E8F1D26E4}"/>
              </a:ext>
            </a:extLst>
          </p:cNvPr>
          <p:cNvSpPr txBox="1"/>
          <p:nvPr/>
        </p:nvSpPr>
        <p:spPr>
          <a:xfrm>
            <a:off x="576912" y="5751321"/>
            <a:ext cx="1007806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000">
                <a:latin typeface="Merriweather"/>
              </a:rPr>
              <a:t>Abb.</a:t>
            </a:r>
            <a:r>
              <a:rPr lang="de-DE" sz="1000" dirty="0">
                <a:latin typeface="Merriweather"/>
              </a:rPr>
              <a:t>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/>
      <p:bldP spid="172" grpId="0"/>
      <p:bldP spid="173" grpId="0"/>
      <p:bldP spid="174" grpId="0"/>
      <p:bldP spid="17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2571750" y="2574280"/>
            <a:ext cx="78105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b="1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Medienkompetenz:</a:t>
            </a:r>
            <a:r>
              <a:rPr lang="de-DE" sz="18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Kritische Auswahl und Bewertung von Internetquellen </a:t>
            </a:r>
            <a:r>
              <a:rPr lang="de-DE" sz="1800" b="0" i="0" u="none" strike="noStrike" cap="none" dirty="0" err="1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statt bloßer Konsum</a:t>
            </a:r>
            <a:r>
              <a:rPr lang="de-DE" sz="18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lang="de-DE" sz="1700" dirty="0"/>
          </a:p>
        </p:txBody>
      </p:sp>
      <p:sp>
        <p:nvSpPr>
          <p:cNvPr id="188" name="Google Shape;188;p20"/>
          <p:cNvSpPr txBox="1"/>
          <p:nvPr/>
        </p:nvSpPr>
        <p:spPr>
          <a:xfrm>
            <a:off x="2571750" y="3374380"/>
            <a:ext cx="78105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b="1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Sozialkompetenz:</a:t>
            </a:r>
            <a:r>
              <a:rPr lang="de-DE" sz="18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Kooperation und Kommunikation in Arbeitsgruppen als integraler Bestandteil.</a:t>
            </a:r>
            <a:endParaRPr lang="de-DE" sz="1700" dirty="0"/>
          </a:p>
        </p:txBody>
      </p:sp>
      <p:sp>
        <p:nvSpPr>
          <p:cNvPr id="189" name="Google Shape;189;p20"/>
          <p:cNvSpPr txBox="1"/>
          <p:nvPr/>
        </p:nvSpPr>
        <p:spPr>
          <a:xfrm>
            <a:off x="2571750" y="4174480"/>
            <a:ext cx="78105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b="1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Urteilskompetenz:</a:t>
            </a:r>
            <a:r>
              <a:rPr lang="de-DE" sz="18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Multiperspektivität durch unterschiedliche Rollen und Quellen wahrnehmen.</a:t>
            </a:r>
            <a:endParaRPr lang="de-DE" sz="1700" dirty="0"/>
          </a:p>
        </p:txBody>
      </p:sp>
      <p:sp>
        <p:nvSpPr>
          <p:cNvPr id="190" name="Google Shape;190;p20"/>
          <p:cNvSpPr txBox="1"/>
          <p:nvPr/>
        </p:nvSpPr>
        <p:spPr>
          <a:xfrm>
            <a:off x="2571750" y="4974580"/>
            <a:ext cx="78105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b="1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Präsentationskompetenz:</a:t>
            </a:r>
            <a:r>
              <a:rPr lang="de-DE" sz="18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Aufbereitung der Ergebnisse für ein Plenum (Output-Orientierung).</a:t>
            </a:r>
            <a:endParaRPr lang="de-DE" sz="1700" dirty="0"/>
          </a:p>
        </p:txBody>
      </p:sp>
      <p:pic>
        <p:nvPicPr>
          <p:cNvPr id="191" name="Google Shape;191;p20" descr="Online-Netzwerk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912075" y="2603863"/>
            <a:ext cx="489031" cy="515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Sprache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939754" y="3412471"/>
            <a:ext cx="46672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Waage der Justitia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939757" y="4212570"/>
            <a:ext cx="466722" cy="466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Präsentation mit Kreisdiagramm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990959" y="5012672"/>
            <a:ext cx="414869" cy="41486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571500" y="967085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6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Zentrale Kompetenzbereiche</a:t>
            </a:r>
            <a:endParaRPr lang="de-DE" sz="3600"/>
          </a:p>
        </p:txBody>
      </p:sp>
      <p:sp>
        <p:nvSpPr>
          <p:cNvPr id="196" name="Google Shape;196;p20"/>
          <p:cNvSpPr/>
          <p:nvPr/>
        </p:nvSpPr>
        <p:spPr>
          <a:xfrm>
            <a:off x="571500" y="1510010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/>
      <p:bldP spid="188" grpId="0"/>
      <p:bldP spid="189" grpId="0"/>
      <p:bldP spid="19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10060"/>
            <a:ext cx="11049000" cy="437643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571500" y="4731692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b="0" i="1" u="none" strike="noStrike" cap="none" dirty="0" err="1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WebQuests</a:t>
            </a:r>
            <a:r>
              <a:rPr lang="de-DE" sz="1500" b="0" i="1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minimieren die Zeit für die Suche (Navigation) und maximieren die Zeit für die kognitive Verarbeitung.</a:t>
            </a:r>
            <a:endParaRPr lang="de-DE" dirty="0"/>
          </a:p>
        </p:txBody>
      </p:sp>
      <p:sp>
        <p:nvSpPr>
          <p:cNvPr id="205" name="Google Shape;205;p21"/>
          <p:cNvSpPr txBox="1"/>
          <p:nvPr/>
        </p:nvSpPr>
        <p:spPr>
          <a:xfrm>
            <a:off x="571500" y="967085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600" b="1" i="0" u="none" strike="noStrike" cap="none" dirty="0" err="1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WebQuest</a:t>
            </a:r>
            <a:r>
              <a:rPr lang="de-DE" sz="36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 vs. Freie Internetrecherche</a:t>
            </a:r>
            <a:endParaRPr lang="de-DE" sz="3600" dirty="0"/>
          </a:p>
        </p:txBody>
      </p:sp>
      <p:sp>
        <p:nvSpPr>
          <p:cNvPr id="206" name="Google Shape;206;p21"/>
          <p:cNvSpPr/>
          <p:nvPr/>
        </p:nvSpPr>
        <p:spPr>
          <a:xfrm>
            <a:off x="571500" y="1510010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Source Citation"/>
          <p:cNvSpPr txBox="1"/>
          <p:nvPr/>
        </p:nvSpPr>
        <p:spPr>
          <a:xfrm>
            <a:off x="571500" y="6400000"/>
            <a:ext cx="11049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 b="0" i="1" u="none" strike="noStrike" cap="none">
                <a:solidFill>
                  <a:srgbClr val="7F8C8D"/>
                </a:solidFill>
                <a:latin typeface="DM Sans"/>
                <a:ea typeface="DM Sans"/>
                <a:cs typeface="DM Sans"/>
                <a:sym typeface="DM Sans"/>
              </a:rPr>
              <a:t>Eigene Darstellung, illustrativ, in Anlehnung an Dodge, B. (1997) &amp; Moser, H. (2008): Abenteuer Internet – Lernen mit WebQuests.</a:t>
            </a:r>
            <a:endParaRPr lang="de-DE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71500" y="4098280"/>
            <a:ext cx="11049000" cy="381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516254" y="4364980"/>
            <a:ext cx="232029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1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1. Einstieg</a:t>
            </a:r>
            <a:endParaRPr lang="de-DE"/>
          </a:p>
        </p:txBody>
      </p:sp>
      <p:sp>
        <p:nvSpPr>
          <p:cNvPr id="220" name="Google Shape;220;p22"/>
          <p:cNvSpPr txBox="1"/>
          <p:nvPr/>
        </p:nvSpPr>
        <p:spPr>
          <a:xfrm>
            <a:off x="571500" y="4898380"/>
            <a:ext cx="22098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Konfrontation mit dem Problem.</a:t>
            </a:r>
            <a:endParaRPr lang="de-DE" dirty="0"/>
          </a:p>
        </p:txBody>
      </p:sp>
      <p:sp>
        <p:nvSpPr>
          <p:cNvPr id="221" name="Google Shape;221;p22"/>
          <p:cNvSpPr txBox="1"/>
          <p:nvPr/>
        </p:nvSpPr>
        <p:spPr>
          <a:xfrm>
            <a:off x="2726055" y="3117205"/>
            <a:ext cx="232029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2. Recherche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2781300" y="3650605"/>
            <a:ext cx="2209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Arbeit mit den Quellen.</a:t>
            </a:r>
            <a:endParaRPr lang="de-DE"/>
          </a:p>
        </p:txBody>
      </p:sp>
      <p:sp>
        <p:nvSpPr>
          <p:cNvPr id="223" name="Google Shape;223;p22"/>
          <p:cNvSpPr txBox="1"/>
          <p:nvPr/>
        </p:nvSpPr>
        <p:spPr>
          <a:xfrm>
            <a:off x="4935855" y="4364980"/>
            <a:ext cx="232029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1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3. Erarbeitung</a:t>
            </a:r>
            <a:endParaRPr lang="de-DE"/>
          </a:p>
        </p:txBody>
      </p:sp>
      <p:sp>
        <p:nvSpPr>
          <p:cNvPr id="224" name="Google Shape;224;p22"/>
          <p:cNvSpPr txBox="1"/>
          <p:nvPr/>
        </p:nvSpPr>
        <p:spPr>
          <a:xfrm>
            <a:off x="4991100" y="4898380"/>
            <a:ext cx="22098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Transformation der Infos.</a:t>
            </a:r>
            <a:endParaRPr lang="de-DE"/>
          </a:p>
        </p:txBody>
      </p:sp>
      <p:sp>
        <p:nvSpPr>
          <p:cNvPr id="225" name="Google Shape;225;p22"/>
          <p:cNvSpPr txBox="1"/>
          <p:nvPr/>
        </p:nvSpPr>
        <p:spPr>
          <a:xfrm>
            <a:off x="7145655" y="2812405"/>
            <a:ext cx="232029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1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4. Präsentation</a:t>
            </a:r>
            <a:endParaRPr lang="de-DE"/>
          </a:p>
        </p:txBody>
      </p:sp>
      <p:sp>
        <p:nvSpPr>
          <p:cNvPr id="226" name="Google Shape;226;p22"/>
          <p:cNvSpPr txBox="1"/>
          <p:nvPr/>
        </p:nvSpPr>
        <p:spPr>
          <a:xfrm>
            <a:off x="7200900" y="3345805"/>
            <a:ext cx="22098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Austausch der Ergebnisse.</a:t>
            </a:r>
            <a:endParaRPr lang="de-DE"/>
          </a:p>
        </p:txBody>
      </p:sp>
      <p:sp>
        <p:nvSpPr>
          <p:cNvPr id="227" name="Google Shape;227;p22"/>
          <p:cNvSpPr txBox="1"/>
          <p:nvPr/>
        </p:nvSpPr>
        <p:spPr>
          <a:xfrm>
            <a:off x="9355455" y="4364980"/>
            <a:ext cx="232029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1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5. Reflexion</a:t>
            </a:r>
            <a:endParaRPr lang="de-DE"/>
          </a:p>
        </p:txBody>
      </p:sp>
      <p:sp>
        <p:nvSpPr>
          <p:cNvPr id="228" name="Google Shape;228;p22"/>
          <p:cNvSpPr txBox="1"/>
          <p:nvPr/>
        </p:nvSpPr>
        <p:spPr>
          <a:xfrm>
            <a:off x="9410700" y="4898380"/>
            <a:ext cx="2209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Was haben wir gelernt?</a:t>
            </a:r>
            <a:endParaRPr lang="de-DE" dirty="0"/>
          </a:p>
        </p:txBody>
      </p:sp>
      <p:sp>
        <p:nvSpPr>
          <p:cNvPr id="229" name="Google Shape;229;p22"/>
          <p:cNvSpPr txBox="1"/>
          <p:nvPr/>
        </p:nvSpPr>
        <p:spPr>
          <a:xfrm>
            <a:off x="571500" y="967085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6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Der typische Prozessablauf</a:t>
            </a:r>
            <a:endParaRPr lang="de-DE" sz="3600" dirty="0"/>
          </a:p>
        </p:txBody>
      </p:sp>
      <p:sp>
        <p:nvSpPr>
          <p:cNvPr id="230" name="Google Shape;230;p22"/>
          <p:cNvSpPr/>
          <p:nvPr/>
        </p:nvSpPr>
        <p:spPr>
          <a:xfrm>
            <a:off x="571500" y="1510010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1581150" y="402104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D4AF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3790950" y="401782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D4AF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6000750" y="401782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D4AF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8210550" y="401782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D4AF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10420350" y="401782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D4AF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 animBg="1"/>
      <p:bldP spid="219" grpId="0"/>
      <p:bldP spid="220" grpId="0"/>
      <p:bldP spid="221" grpId="0"/>
      <p:bldP spid="222" grpId="0"/>
      <p:bldP spid="223" grpId="0"/>
      <p:bldP spid="224" grpId="0"/>
      <p:bldP spid="225" grpId="0"/>
      <p:bldP spid="226" grpId="0"/>
      <p:bldP spid="227" grpId="0"/>
      <p:bldP spid="228" grpId="0"/>
      <p:bldP spid="212" grpId="0" animBg="1"/>
      <p:bldP spid="213" grpId="0" animBg="1"/>
      <p:bldP spid="214" grpId="0" animBg="1"/>
      <p:bldP spid="215" grpId="0" animBg="1"/>
      <p:bldP spid="2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210">
          <a:extLst>
            <a:ext uri="{FF2B5EF4-FFF2-40B4-BE49-F238E27FC236}">
              <a16:creationId xmlns:a16="http://schemas.microsoft.com/office/drawing/2014/main" id="{4A535E68-C713-4848-7FB6-758E75C3C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>
            <a:extLst>
              <a:ext uri="{FF2B5EF4-FFF2-40B4-BE49-F238E27FC236}">
                <a16:creationId xmlns:a16="http://schemas.microsoft.com/office/drawing/2014/main" id="{B5FF7CF1-ABB0-B22F-39A0-B53FFEC6AA73}"/>
              </a:ext>
            </a:extLst>
          </p:cNvPr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>
            <a:extLst>
              <a:ext uri="{FF2B5EF4-FFF2-40B4-BE49-F238E27FC236}">
                <a16:creationId xmlns:a16="http://schemas.microsoft.com/office/drawing/2014/main" id="{EF5DE279-F5A6-BFCC-E8A0-EF4DB44A8FDE}"/>
              </a:ext>
            </a:extLst>
          </p:cNvPr>
          <p:cNvSpPr/>
          <p:nvPr/>
        </p:nvSpPr>
        <p:spPr>
          <a:xfrm>
            <a:off x="571500" y="1510010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29;p22">
            <a:extLst>
              <a:ext uri="{FF2B5EF4-FFF2-40B4-BE49-F238E27FC236}">
                <a16:creationId xmlns:a16="http://schemas.microsoft.com/office/drawing/2014/main" id="{EEE11373-246A-FB45-4980-E0E65916E61B}"/>
              </a:ext>
            </a:extLst>
          </p:cNvPr>
          <p:cNvSpPr txBox="1"/>
          <p:nvPr/>
        </p:nvSpPr>
        <p:spPr>
          <a:xfrm>
            <a:off x="571500" y="967085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6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Gruppenarbeit</a:t>
            </a:r>
            <a:endParaRPr lang="de-DE" sz="36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4662648-EAA6-89AB-4CA6-08F8A53ABF87}"/>
              </a:ext>
            </a:extLst>
          </p:cNvPr>
          <p:cNvSpPr txBox="1"/>
          <p:nvPr/>
        </p:nvSpPr>
        <p:spPr>
          <a:xfrm>
            <a:off x="3333750" y="2462827"/>
            <a:ext cx="846813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latin typeface="DM Sans" pitchFamily="2" charset="77"/>
              </a:rPr>
              <a:t>Öffnet folgende Website auf eurem </a:t>
            </a:r>
            <a:r>
              <a:rPr lang="de-DE" sz="2000" b="1" dirty="0">
                <a:latin typeface="DM Sans" pitchFamily="2" charset="77"/>
              </a:rPr>
              <a:t>Tablet</a:t>
            </a:r>
            <a:r>
              <a:rPr lang="de-DE" sz="2000" dirty="0">
                <a:latin typeface="DM Sans" pitchFamily="2" charset="77"/>
              </a:rPr>
              <a:t> oder </a:t>
            </a:r>
            <a:r>
              <a:rPr lang="de-DE" sz="2000" b="1" dirty="0">
                <a:latin typeface="DM Sans" pitchFamily="2" charset="77"/>
              </a:rPr>
              <a:t>Laptop</a:t>
            </a:r>
            <a:r>
              <a:rPr lang="de-DE" sz="2000" dirty="0">
                <a:latin typeface="DM Sans" pitchFamily="2" charset="77"/>
              </a:rPr>
              <a:t> (Smartphone lediglich eingeschränkt nutzbar) und bearbeitet in eurer Gruppe </a:t>
            </a:r>
            <a:r>
              <a:rPr lang="de-DE" sz="2000" b="1" dirty="0">
                <a:solidFill>
                  <a:srgbClr val="FFC000"/>
                </a:solidFill>
                <a:latin typeface="DM Sans" pitchFamily="2" charset="77"/>
              </a:rPr>
              <a:t>eine</a:t>
            </a:r>
            <a:r>
              <a:rPr lang="de-DE" sz="2000" dirty="0">
                <a:latin typeface="DM Sans" pitchFamily="2" charset="77"/>
              </a:rPr>
              <a:t> der drei Aufgaben:</a:t>
            </a:r>
          </a:p>
          <a:p>
            <a:r>
              <a:rPr lang="de-DE" sz="2000" dirty="0">
                <a:latin typeface="DM Sans" pitchFamily="2" charset="77"/>
              </a:rPr>
              <a:t>-</a:t>
            </a:r>
          </a:p>
          <a:p>
            <a:r>
              <a:rPr lang="de-DE" sz="2000" dirty="0">
                <a:latin typeface="DM Sans" pitchFamily="2" charset="77"/>
              </a:rPr>
              <a:t>Künstliche Intelligenz; Umwelt vs. Wirtschaft; Datenschutz vs. Forschung</a:t>
            </a:r>
            <a:br>
              <a:rPr lang="de-DE" sz="2000" dirty="0">
                <a:latin typeface="DM Sans" pitchFamily="2" charset="77"/>
              </a:rPr>
            </a:br>
            <a:r>
              <a:rPr lang="de-DE" sz="2000" dirty="0">
                <a:latin typeface="DM Sans" pitchFamily="2" charset="77"/>
              </a:rPr>
              <a:t>-</a:t>
            </a:r>
          </a:p>
          <a:p>
            <a:r>
              <a:rPr lang="de-DE" sz="2000" dirty="0">
                <a:latin typeface="DM Sans" pitchFamily="2" charset="77"/>
              </a:rPr>
              <a:t>Alle weiteren Informationen, Aufträge und Materialien findet ihr online.</a:t>
            </a:r>
          </a:p>
          <a:p>
            <a:r>
              <a:rPr lang="de-DE" sz="2000" dirty="0">
                <a:latin typeface="DM Sans" pitchFamily="2" charset="77"/>
              </a:rPr>
              <a:t>Viel Spaß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5238E59-4BD3-FFE7-05E1-C761AB56E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61572"/>
            <a:ext cx="2464832" cy="246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179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 txBox="1"/>
          <p:nvPr/>
        </p:nvSpPr>
        <p:spPr>
          <a:xfrm>
            <a:off x="425291" y="2341728"/>
            <a:ext cx="11341417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5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Vielen Dank für Ihre Aufmerksamkeit!</a:t>
            </a:r>
            <a:endParaRPr lang="de-DE"/>
          </a:p>
        </p:txBody>
      </p:sp>
      <p:sp>
        <p:nvSpPr>
          <p:cNvPr id="238" name="Google Shape;238;p23"/>
          <p:cNvSpPr txBox="1"/>
          <p:nvPr/>
        </p:nvSpPr>
        <p:spPr>
          <a:xfrm>
            <a:off x="695325" y="3052747"/>
            <a:ext cx="1080135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Gibt es noch Fragen oder Anmerkungen?</a:t>
            </a:r>
            <a:endParaRPr lang="de-DE" sz="2800"/>
          </a:p>
        </p:txBody>
      </p:sp>
      <p:sp>
        <p:nvSpPr>
          <p:cNvPr id="239" name="Google Shape;239;p23"/>
          <p:cNvSpPr/>
          <p:nvPr/>
        </p:nvSpPr>
        <p:spPr>
          <a:xfrm>
            <a:off x="5619750" y="3741390"/>
            <a:ext cx="9525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23" descr="Hilfe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810250" y="4160490"/>
            <a:ext cx="5715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 txBox="1"/>
          <p:nvPr/>
        </p:nvSpPr>
        <p:spPr>
          <a:xfrm>
            <a:off x="571500" y="967085"/>
            <a:ext cx="116016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600" b="1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Literaturverzeichnis</a:t>
            </a:r>
            <a:endParaRPr lang="de-DE" sz="3600"/>
          </a:p>
        </p:txBody>
      </p:sp>
      <p:sp>
        <p:nvSpPr>
          <p:cNvPr id="249" name="Google Shape;249;p24"/>
          <p:cNvSpPr/>
          <p:nvPr/>
        </p:nvSpPr>
        <p:spPr>
          <a:xfrm>
            <a:off x="571500" y="1510010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04B1629-6512-C0F5-2411-92120979A03D}"/>
              </a:ext>
            </a:extLst>
          </p:cNvPr>
          <p:cNvSpPr txBox="1"/>
          <p:nvPr/>
        </p:nvSpPr>
        <p:spPr>
          <a:xfrm>
            <a:off x="566602" y="3218992"/>
            <a:ext cx="11093861" cy="21514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de-DE" sz="1600" b="1" dirty="0">
                <a:latin typeface="DM Sans"/>
                <a:cs typeface="Helvetica"/>
              </a:rPr>
              <a:t>Moser, H. (2008).</a:t>
            </a:r>
            <a:r>
              <a:rPr lang="de-DE" sz="1600" dirty="0">
                <a:latin typeface="DM Sans"/>
                <a:cs typeface="Helvetica"/>
              </a:rPr>
              <a:t> </a:t>
            </a:r>
            <a:r>
              <a:rPr lang="de-DE" sz="1600" i="1" dirty="0">
                <a:latin typeface="DM Sans"/>
                <a:cs typeface="Helvetica"/>
              </a:rPr>
              <a:t>Abenteuer Internet. Lernen mit </a:t>
            </a:r>
            <a:r>
              <a:rPr lang="de-DE" sz="1600" i="1" dirty="0" err="1">
                <a:latin typeface="DM Sans"/>
                <a:cs typeface="Helvetica"/>
              </a:rPr>
              <a:t>WebQuests</a:t>
            </a:r>
            <a:r>
              <a:rPr lang="de-DE" sz="1600" dirty="0">
                <a:latin typeface="DM Sans"/>
                <a:cs typeface="Helvetica"/>
              </a:rPr>
              <a:t> (2. Aufl.). Auer Verlag. </a:t>
            </a:r>
          </a:p>
          <a:p>
            <a:pPr marL="285750" indent="-285750">
              <a:buChar char="•"/>
            </a:pPr>
            <a:r>
              <a:rPr lang="de-DE" sz="1600" b="1" dirty="0">
                <a:latin typeface="DM Sans"/>
                <a:cs typeface="Helvetica"/>
              </a:rPr>
              <a:t>Dodge, B. (1995).</a:t>
            </a:r>
            <a:r>
              <a:rPr lang="de-DE" sz="1600" dirty="0">
                <a:latin typeface="DM Sans"/>
                <a:cs typeface="Helvetica"/>
              </a:rPr>
              <a:t> </a:t>
            </a:r>
            <a:r>
              <a:rPr lang="de-DE" sz="1600" i="1" dirty="0">
                <a:latin typeface="DM Sans"/>
                <a:cs typeface="Helvetica"/>
              </a:rPr>
              <a:t>Some </a:t>
            </a:r>
            <a:r>
              <a:rPr lang="de-DE" sz="1600" i="1" dirty="0" err="1">
                <a:latin typeface="DM Sans"/>
                <a:cs typeface="Helvetica"/>
              </a:rPr>
              <a:t>Thoughts</a:t>
            </a:r>
            <a:r>
              <a:rPr lang="de-DE" sz="1600" i="1" dirty="0">
                <a:latin typeface="DM Sans"/>
                <a:cs typeface="Helvetica"/>
              </a:rPr>
              <a:t> About </a:t>
            </a:r>
            <a:r>
              <a:rPr lang="de-DE" sz="1600" i="1" dirty="0" err="1">
                <a:latin typeface="DM Sans"/>
                <a:cs typeface="Helvetica"/>
              </a:rPr>
              <a:t>WebQuests</a:t>
            </a:r>
            <a:r>
              <a:rPr lang="de-DE" sz="1600" dirty="0">
                <a:latin typeface="DM Sans"/>
                <a:cs typeface="Helvetica"/>
              </a:rPr>
              <a:t>. San Diego State University. </a:t>
            </a:r>
            <a:endParaRPr lang="de-DE" sz="1600" b="1" dirty="0">
              <a:latin typeface="DM Sans"/>
              <a:cs typeface="Helvetica"/>
            </a:endParaRPr>
          </a:p>
          <a:p>
            <a:pPr marL="285750" indent="-285750">
              <a:buChar char="•"/>
            </a:pPr>
            <a:r>
              <a:rPr lang="de-DE" sz="1600" b="1" dirty="0">
                <a:latin typeface="DM Sans"/>
                <a:cs typeface="Helvetica"/>
              </a:rPr>
              <a:t>Landesakademie für Fortbildung und Personalentwicklung an Schulen (o. D.).</a:t>
            </a:r>
            <a:r>
              <a:rPr lang="de-DE" sz="1600" dirty="0">
                <a:latin typeface="DM Sans"/>
                <a:cs typeface="Helvetica"/>
              </a:rPr>
              <a:t> </a:t>
            </a:r>
            <a:r>
              <a:rPr lang="de-DE" sz="1600" i="1" dirty="0">
                <a:latin typeface="DM Sans"/>
                <a:cs typeface="Helvetica"/>
              </a:rPr>
              <a:t>Definition: Was ist ein </a:t>
            </a:r>
            <a:r>
              <a:rPr lang="de-DE" sz="1600" i="1" dirty="0" err="1">
                <a:latin typeface="DM Sans"/>
                <a:cs typeface="Helvetica"/>
              </a:rPr>
              <a:t>WebQuest</a:t>
            </a:r>
            <a:r>
              <a:rPr lang="de-DE" sz="1600" i="1" dirty="0">
                <a:latin typeface="DM Sans"/>
                <a:cs typeface="Helvetica"/>
              </a:rPr>
              <a:t>?</a:t>
            </a:r>
            <a:r>
              <a:rPr lang="de-DE" sz="1600" dirty="0">
                <a:latin typeface="DM Sans"/>
                <a:cs typeface="Helvetica"/>
              </a:rPr>
              <a:t> Lehrerfortbildung Baden-Württemberg. Abgerufen am 22. Mai 2024 von </a:t>
            </a:r>
            <a:r>
              <a:rPr lang="de-DE" sz="1600" dirty="0">
                <a:solidFill>
                  <a:srgbClr val="0000E9"/>
                </a:solidFill>
                <a:latin typeface="DM Sans"/>
                <a:cs typeface="Helvetica"/>
                <a:hlinkClick r:id="rId4"/>
              </a:rPr>
              <a:t>https://lehrerfortbildung-bw.de/u_gestaltlehrlern/projekte/webquest/definition.html</a:t>
            </a:r>
            <a:endParaRPr lang="de-DE" sz="1600">
              <a:latin typeface="DM Sans"/>
            </a:endParaRPr>
          </a:p>
          <a:p>
            <a:pPr marL="285750" indent="-285750">
              <a:buChar char="•"/>
            </a:pPr>
            <a:r>
              <a:rPr lang="de-DE" sz="1600" b="1" dirty="0">
                <a:latin typeface="DM Sans"/>
                <a:cs typeface="Helvetica"/>
                <a:hlinkClick r:id="rId5"/>
              </a:rPr>
              <a:t>WebQuest.de</a:t>
            </a:r>
            <a:r>
              <a:rPr lang="de-DE" sz="1600" b="1" dirty="0">
                <a:latin typeface="DM Sans"/>
                <a:cs typeface="Helvetica"/>
              </a:rPr>
              <a:t> (o. D.).</a:t>
            </a:r>
            <a:r>
              <a:rPr lang="de-DE" sz="1600" dirty="0">
                <a:latin typeface="DM Sans"/>
                <a:cs typeface="Helvetica"/>
              </a:rPr>
              <a:t> </a:t>
            </a:r>
            <a:r>
              <a:rPr lang="de-DE" sz="1600" i="1" dirty="0">
                <a:latin typeface="DM Sans"/>
                <a:cs typeface="Helvetica"/>
              </a:rPr>
              <a:t>Ressourcen und Struktur von </a:t>
            </a:r>
            <a:r>
              <a:rPr lang="de-DE" sz="1600" i="1" dirty="0" err="1">
                <a:latin typeface="DM Sans"/>
                <a:cs typeface="Helvetica"/>
              </a:rPr>
              <a:t>WebQuests</a:t>
            </a:r>
            <a:r>
              <a:rPr lang="de-DE" sz="1600" dirty="0">
                <a:latin typeface="DM Sans"/>
                <a:cs typeface="Helvetica"/>
              </a:rPr>
              <a:t>. Hrsg. v. Sonja Gerber &amp; Heinz Moser. </a:t>
            </a:r>
            <a:r>
              <a:rPr lang="de-DE" sz="1600" dirty="0">
                <a:solidFill>
                  <a:srgbClr val="0000E9"/>
                </a:solidFill>
                <a:latin typeface="DM Sans"/>
                <a:cs typeface="Helvetica"/>
                <a:hlinkClick r:id="rId6"/>
              </a:rPr>
              <a:t>http://www.webquest.de</a:t>
            </a:r>
            <a:endParaRPr lang="de-DE" sz="1600">
              <a:latin typeface="DM Sans"/>
            </a:endParaRPr>
          </a:p>
          <a:p>
            <a:pPr algn="l">
              <a:lnSpc>
                <a:spcPct val="150000"/>
              </a:lnSpc>
            </a:pPr>
            <a:endParaRPr lang="de-DE" sz="1600" dirty="0">
              <a:latin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571500" y="3318271"/>
            <a:ext cx="110490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611306" y="2580890"/>
            <a:ext cx="110490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7187" y="1608188"/>
            <a:ext cx="1079026" cy="771952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1666875" y="1715370"/>
            <a:ext cx="9953700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  <a:hlinkClick r:id="rId5"/>
              </a:rPr>
              <a:t>https://iplantes.com/wp-content/uploads/2013/02/webquest1.jpg</a:t>
            </a:r>
            <a:endParaRPr lang="en-US" b="0" i="0" u="none" strike="noStrike" cap="none">
              <a:solidFill>
                <a:srgbClr val="2C3E5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ct val="160000"/>
              </a:lnSpc>
            </a:pPr>
            <a:endParaRPr lang="en-US" dirty="0">
              <a:solidFill>
                <a:srgbClr val="2C3E50"/>
              </a:solidFill>
              <a:latin typeface="DM Sans"/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1649815" y="1995205"/>
            <a:ext cx="99537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Quelle</a:t>
            </a:r>
            <a:r>
              <a:rPr lang="en-US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b="0" i="0" u="none" strike="noStrike" cap="none" dirty="0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iplantes.com</a:t>
            </a:r>
            <a:endParaRPr dirty="0"/>
          </a:p>
        </p:txBody>
      </p:sp>
      <p:sp>
        <p:nvSpPr>
          <p:cNvPr id="265" name="Google Shape;265;p25"/>
          <p:cNvSpPr txBox="1"/>
          <p:nvPr/>
        </p:nvSpPr>
        <p:spPr>
          <a:xfrm>
            <a:off x="571500" y="967085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Bildquellen</a:t>
            </a:r>
            <a:endParaRPr/>
          </a:p>
        </p:txBody>
      </p:sp>
      <p:sp>
        <p:nvSpPr>
          <p:cNvPr id="266" name="Google Shape;266;p25"/>
          <p:cNvSpPr/>
          <p:nvPr/>
        </p:nvSpPr>
        <p:spPr>
          <a:xfrm>
            <a:off x="571500" y="1510010"/>
            <a:ext cx="11049000" cy="19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Chart Thumbnail" descr="Diagramm WebQuest vs. Freie Internetrecherch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7187" y="2720000"/>
            <a:ext cx="1079026" cy="427500"/>
          </a:xfrm>
          <a:prstGeom prst="rect">
            <a:avLst/>
          </a:prstGeom>
          <a:noFill/>
          <a:ln w="6350">
            <a:solidFill>
              <a:srgbClr val="CCCCCC"/>
            </a:solidFill>
          </a:ln>
        </p:spPr>
      </p:pic>
      <p:sp>
        <p:nvSpPr>
          <p:cNvPr id="271" name="Chart Source Text"/>
          <p:cNvSpPr txBox="1"/>
          <p:nvPr/>
        </p:nvSpPr>
        <p:spPr>
          <a:xfrm>
            <a:off x="1700994" y="2720000"/>
            <a:ext cx="99537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Quelle: </a:t>
            </a:r>
            <a:r>
              <a:rPr lang="de-DE" b="0" i="1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Eigene Darstellung, illustrativ, in Anlehnung an Dodge, B. (1997) &amp; Moser, H. (2008)</a:t>
            </a:r>
            <a:endParaRPr lang="de-DE">
              <a:latin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622</Words>
  <Application>Microsoft Macintosh PowerPoint</Application>
  <PresentationFormat>Breitbild</PresentationFormat>
  <Paragraphs>69</Paragraphs>
  <Slides>14</Slides>
  <Notes>14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Calibri</vt:lpstr>
      <vt:lpstr>DM Sans</vt:lpstr>
      <vt:lpstr>Arial</vt:lpstr>
      <vt:lpstr>Merriweather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Max Lang</cp:lastModifiedBy>
  <cp:revision>204</cp:revision>
  <dcterms:modified xsi:type="dcterms:W3CDTF">2026-06-05T11:01:43Z</dcterms:modified>
</cp:coreProperties>
</file>